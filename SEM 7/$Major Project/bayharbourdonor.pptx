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A8892-176E-4842-A9DA-AC8CA90AA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D8049-89CD-4857-9A67-C289895DF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D3D57-05D2-45BC-8888-1ADCA4A7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09/09/2026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10C15-85F7-4DA9-9603-421B4E541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024C4-9342-4573-A92B-76F0E026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669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B821-8A54-4B15-9C3F-CF634A3C6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23297-918B-4783-9C42-5BF10BF32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D9B1D-B531-4218-9C33-E3953F66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09/09/2026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0F82F-8D2E-4178-B29A-789B6037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0CD63-A69A-4034-A1BD-42597FA2D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8419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85C47-7A68-40FD-8CC1-078CB0F67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6E856-7F7B-446E-ABB4-954E57644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6ECC9-7DB5-4AFB-AC46-BE5BE0088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09/09/2026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6E7D6-A23B-413A-B67C-8CE6689D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E22-48E2-49AC-BFC4-7E6D6DDBF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502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B562-1220-4471-81D6-F0E94CA2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8B1DA-2A45-4B42-B383-EA75B17B5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3AE47-6E81-40E9-96ED-A916F2D61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8313A-3051-456D-B633-0017BBED9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09/09/2026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F0AAE-B160-483F-9E9D-D063A0B8A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E89C6-A9D2-4795-AEA6-F2176E4EF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8679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4F7F5-6C11-4763-9DD2-91306F55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5E082-3A24-4B53-8348-0C4E5EED6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7CF96-71EA-429B-A2E0-04877B26DD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C694E8-2785-4875-87BE-F8D0C22912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0AD02E-9607-438A-BD82-E2006ED2F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B75130-FDF3-40BD-B0BE-1E936260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09/09/2026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249B84-4498-4F4F-92D3-88232A7D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C7937-BA42-4E12-B28C-391603A6F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921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C896-FDE9-4E12-BFFB-BA6F8F3C3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D31ABA-2221-4F2D-9355-51D71B016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09/09/2026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4C8B2B-EC9A-4756-8CBC-B8A2ECDC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DB9C1-FFF8-46CE-AE5C-3125F24C8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542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41C375-C571-48D6-B796-31FBE044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09/09/2026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784512-5D30-4839-BD16-5F172CF47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45F0A-5F70-4C72-8EB2-8E4BE0341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353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C27A-4E3D-43A4-8BF6-7F2C80667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E11EC-457A-4D28-A2B1-9ED60AD58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33080-CD56-4494-8B96-3D5FAB96E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A698F-6479-453B-9789-E4E3FB5AB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09/09/2026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ACD61-1406-4A2F-BA75-3899FC03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9C55E-4726-4CC0-AD93-13A9A44F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628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15C7-9541-4A3B-858C-0F3CC6C30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FC9671-D8CB-461B-92C0-CB8D4D5302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0C326-D648-4FDF-8C2B-7F1DDFB6B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513FA-43F6-4C53-AD20-A52779BC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09/09/2026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7429C-C8FD-4783-AE42-61392E49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E6C7E-5066-4111-86EB-891DEEF4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9211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35E1-2849-4D74-AC8B-3F24F5BB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82B0D-067E-4A33-B008-511F3A628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33E19-8E3D-439B-9FFD-986AD068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09/09/2026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4F208-F23A-4070-B0A6-6A8CC1F3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D56BE-BBE7-4B47-9EA0-362B710A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624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C251FF-20DD-480A-8E2F-01C799055E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43E83-C831-40B1-A317-B9D92B67E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D361D-6FDB-4A7A-B267-AD8592E2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CBCB-F20E-4776-A74D-4FF400E04552}" type="datetimeFigureOut">
              <a:rPr lang="en-GB" smtClean="0"/>
              <a:t>09/09/2026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02E0F-7F4B-41E2-B9C0-FA9B7050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2D4CA-2D53-4271-9FDE-9407B7710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473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753D3-3357-4B45-B97B-AC10F8113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FD29E-5B3C-4A77-BA10-A18A9A4C5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06F41-33BE-48AE-8552-C9E28C818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1CBCB-F20E-4776-A74D-4FF400E04552}" type="datetimeFigureOut">
              <a:rPr lang="en-GB" smtClean="0"/>
              <a:t>09/09/2026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6F6C3-1F72-4848-97E5-F2FD593A7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5176A-6BC2-45BE-A8EB-C4E3E9CE0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293C5-BE20-4BB9-B174-72580D4E882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0101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8E029-D2E5-4052-8056-17D067299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133" y="1367896"/>
            <a:ext cx="10710334" cy="2387600"/>
          </a:xfrm>
        </p:spPr>
        <p:txBody>
          <a:bodyPr>
            <a:noAutofit/>
          </a:bodyPr>
          <a:lstStyle/>
          <a:p>
            <a:r>
              <a:rPr lang="en-IN" sz="96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BAYHARBOURDONOR</a:t>
            </a:r>
            <a:endParaRPr lang="en-GB" sz="96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67E0B-2C37-429E-A9F8-9CFB86C65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47571"/>
            <a:ext cx="9144000" cy="1655762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BE IT 2027 Group 1</a:t>
            </a:r>
            <a:endParaRPr lang="en-GB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5835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2F2A-A77F-4580-8F24-E6403A4FC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4855"/>
            <a:ext cx="10515600" cy="1325563"/>
          </a:xfrm>
        </p:spPr>
        <p:txBody>
          <a:bodyPr>
            <a:normAutofit/>
          </a:bodyPr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TEAM MEMBERS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7BABAD0-995B-4A16-B35C-EF8B1A0BAA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6792479"/>
              </p:ext>
            </p:extLst>
          </p:nvPr>
        </p:nvGraphicFramePr>
        <p:xfrm>
          <a:off x="838200" y="265535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733">
                  <a:extLst>
                    <a:ext uri="{9D8B030D-6E8A-4147-A177-3AD203B41FA5}">
                      <a16:colId xmlns:a16="http://schemas.microsoft.com/office/drawing/2014/main" val="720761984"/>
                    </a:ext>
                  </a:extLst>
                </a:gridCol>
                <a:gridCol w="5164665">
                  <a:extLst>
                    <a:ext uri="{9D8B030D-6E8A-4147-A177-3AD203B41FA5}">
                      <a16:colId xmlns:a16="http://schemas.microsoft.com/office/drawing/2014/main" val="170284829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24020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Sr. No.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 Name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Roll Number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669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Yamin Khan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242464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95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Abdurrahman Qureshi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242466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25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Ruman Shaikh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242479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141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Sameer Shaikh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242471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280774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1CA545C-A0DA-42E8-A6DD-239CF1A37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930366"/>
              </p:ext>
            </p:extLst>
          </p:nvPr>
        </p:nvGraphicFramePr>
        <p:xfrm>
          <a:off x="838200" y="5071529"/>
          <a:ext cx="105155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798">
                  <a:extLst>
                    <a:ext uri="{9D8B030D-6E8A-4147-A177-3AD203B41FA5}">
                      <a16:colId xmlns:a16="http://schemas.microsoft.com/office/drawing/2014/main" val="3624515425"/>
                    </a:ext>
                  </a:extLst>
                </a:gridCol>
                <a:gridCol w="5257798">
                  <a:extLst>
                    <a:ext uri="{9D8B030D-6E8A-4147-A177-3AD203B41FA5}">
                      <a16:colId xmlns:a16="http://schemas.microsoft.com/office/drawing/2014/main" val="2718425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Project Guide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Er. Swati Ganar Gurav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218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3024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AEBC-06CA-47C7-A650-7B78E2E4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INTRODUCTION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93274-C8AC-4BA3-BC53-AAF841500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205133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sz="2400" dirty="0"/>
              <a:t>Blood, the petrol for humans is still searching for ways to reach its customer to fix their health.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Finding potential blood donors and locations to donate in urban metropolitan regions and rural areas is still bound to going to hospitals and requesting for blood.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In the worst case of blood black markets, a few litres is “sold” for thousands of rupees, meanwhile exploiting the someone's situation.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For individuals seeking to donate blood and those requesting for specific blood types, it becomes challenging to find their destination.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102FC-2859-4581-A5E0-139B09F20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103" y="2154339"/>
            <a:ext cx="3600000" cy="254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722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0AAB-E52C-48AF-8C38-01E2F13E6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LITERATURE SURVEY</a:t>
            </a:r>
            <a:endParaRPr lang="en-GB" sz="6400" spc="3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D70E78F-535A-4600-8ADE-099183A374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1161077"/>
              </p:ext>
            </p:extLst>
          </p:nvPr>
        </p:nvGraphicFramePr>
        <p:xfrm>
          <a:off x="838200" y="1690688"/>
          <a:ext cx="10515601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667">
                  <a:extLst>
                    <a:ext uri="{9D8B030D-6E8A-4147-A177-3AD203B41FA5}">
                      <a16:colId xmlns:a16="http://schemas.microsoft.com/office/drawing/2014/main" val="2558634699"/>
                    </a:ext>
                  </a:extLst>
                </a:gridCol>
                <a:gridCol w="6341533">
                  <a:extLst>
                    <a:ext uri="{9D8B030D-6E8A-4147-A177-3AD203B41FA5}">
                      <a16:colId xmlns:a16="http://schemas.microsoft.com/office/drawing/2014/main" val="2434238627"/>
                    </a:ext>
                  </a:extLst>
                </a:gridCol>
                <a:gridCol w="787401">
                  <a:extLst>
                    <a:ext uri="{9D8B030D-6E8A-4147-A177-3AD203B41FA5}">
                      <a16:colId xmlns:a16="http://schemas.microsoft.com/office/drawing/2014/main" val="3615907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Paper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Findings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099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Blood banking: The situation in India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India has ~4,000 blood centres collecting 12M units annually with 70% voluntary donations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2012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977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Android Based Blood Donation Management System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Android app uses OTP verification, OCR authentication, and Firebase for secure real-time donor-requester matching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27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Study of Blood-transfusion Services in Maharashtra and Gujarat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Maharashtra has independent SBTC with better organization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2009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528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Study of prevalence of ABO and Rhesus Blood groups in Voluntary Donors in Maharashtra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Most common blood groups: B+ (29.55%), O+ (28.33%), A+ (27.48%), AB+ (9.54%)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26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Blood Donation Application Using Machine Learning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ML-based app uses KNN, Random Forest, Logistic Regression to match donors and predict demand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2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Clinical demand and supply of blood in India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National demand: 14.6M units annually; supply gap ~1M units (2.5 donations per 1,000 persons)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2022</a:t>
                      </a:r>
                      <a:endParaRPr lang="en-GB" dirty="0"/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27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4789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380FE-EAA3-488A-B36C-91B839D9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RESEARCH GAPS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305D7-40D3-48E0-9E07-2A419932B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898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GB" sz="2400" dirty="0"/>
              <a:t>No real-time donor tracking and weak authentication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Blood banks cannot share inventory data with each other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Annual supply-demand gap of 1 million units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Insufficient component separation facilities across India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Low voluntary donation rates in rural and smaller cities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No AI/ML integration for demand prediction and donor matching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Missing OCR and OTP verification in existing donor apps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Lack of interoperability between blood banks for real-time inventory sharing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04F3B-54AE-4F92-935E-AE8C9AD0A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334" y="2212499"/>
            <a:ext cx="3600000" cy="243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469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0B76-BC24-4DE9-AAD8-D04F94F8E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PROBLEM STATEMENT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D84B5-CE4E-470B-9352-492AC2C71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5067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GB" sz="2400" dirty="0"/>
              <a:t>Every day, trauma victims and obstetric patients require urgent blood transfusions, yet timely access remains elusive. Families navigate multiple hospitals, endure prolonged wait times, or resort to unregulated markets. 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Existing applications lack robust authentication and AI-driven demand prediction. Blood banks operate in isolation without real-time inventory sharing or donor tracking.</a:t>
            </a:r>
          </a:p>
          <a:p>
            <a:pPr>
              <a:lnSpc>
                <a:spcPct val="110000"/>
              </a:lnSpc>
            </a:pPr>
            <a:r>
              <a:rPr lang="en-GB" sz="2400" dirty="0"/>
              <a:t>This highlights the critical need for an online blood banking platform.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C7F2CE-6CF4-433C-B517-0043487F6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800" y="1814625"/>
            <a:ext cx="4320000" cy="32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22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9796-3D51-49EF-814B-F8313350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PROPOSED SOLUTION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46F5E-B853-4A62-A368-8D67A12AB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61199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The proposed solution is a cloud-based, interoperable platform connecting all blood banks, hospitals, donors, and recipients across India.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The system features real-time inventory tracking with critical alerts, demand requesting, donor matching using geolocation, and robust OTP/OCR-based authentication.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Additional capabilities include emergency SOS, gamification with rewards, interactive maps, smart notifications, admin dashboards, and a mobile-responsive PWA for rural access.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5675D-CB2A-417B-8BC7-1037FEFC6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467" y="2014312"/>
            <a:ext cx="3600000" cy="28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1822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9796-3D51-49EF-814B-F8313350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SYSTEM ARCHITECTURE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46F5E-B853-4A62-A368-8D67A12AB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11261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9796-3D51-49EF-814B-F8313350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TECHNOLOGY STACK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F8B36E9-2E1D-4E0C-9BA5-6F30A2DFBE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9181935"/>
              </p:ext>
            </p:extLst>
          </p:nvPr>
        </p:nvGraphicFramePr>
        <p:xfrm>
          <a:off x="838200" y="1825625"/>
          <a:ext cx="10515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7067">
                  <a:extLst>
                    <a:ext uri="{9D8B030D-6E8A-4147-A177-3AD203B41FA5}">
                      <a16:colId xmlns:a16="http://schemas.microsoft.com/office/drawing/2014/main" val="3183540822"/>
                    </a:ext>
                  </a:extLst>
                </a:gridCol>
                <a:gridCol w="6468533">
                  <a:extLst>
                    <a:ext uri="{9D8B030D-6E8A-4147-A177-3AD203B41FA5}">
                      <a16:colId xmlns:a16="http://schemas.microsoft.com/office/drawing/2014/main" val="1321218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Layer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Technologies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9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Frontend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NextJS, ShadCN, React.js, React Native, Flutter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860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Backend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Node.js, Express.js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235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Database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MongoDB Atlas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983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Cloud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AWS (EC2, S3, Monitoring), Vercel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50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API Testing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Postman, Jest, Supertest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76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Authentication and Security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Clerk, JWT, bcrypt, HTTPS, RBAC, Audit Logging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983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Maps and Notifications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Google Maps API, Firebase Cloud Messaging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4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Dev Tools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Git, GitHub, Postman, VS Code, NPM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702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Code Quality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ESLint, Prettier,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798612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C163EA6-7EA8-4B8E-9AC5-D54B7BFC2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883275"/>
            <a:ext cx="609600" cy="609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3619FCF-13D4-4950-864A-4C1F9E0DC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700" y="5883275"/>
            <a:ext cx="609600" cy="609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3B097DD-C875-4C1C-8ACA-32C2488617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0" y="5883275"/>
            <a:ext cx="609600" cy="609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9600D8D-A5FA-404E-BF0C-5251ADD649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700" y="5883275"/>
            <a:ext cx="609600" cy="609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D5E1EE4-F08D-483A-A5CF-1886843A9F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700" y="5883275"/>
            <a:ext cx="609600" cy="609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C37A963-8E3B-485D-A764-DC5CDF0112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200" y="5883275"/>
            <a:ext cx="609600" cy="609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45EE9F3-6539-4E57-AF6D-AFC299F8EC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5883275"/>
            <a:ext cx="609600" cy="6096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C302664-4105-48AC-864C-3178D8CDBE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00" y="5883275"/>
            <a:ext cx="609600" cy="609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9DA759A-5723-4E03-AAFA-9259E272B6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700" y="5883275"/>
            <a:ext cx="609600" cy="6096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00A3E3B-7391-443F-83BD-4D21297B9B9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200" y="5883275"/>
            <a:ext cx="609600" cy="6096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0D98CD4-2D17-449A-88C4-A849C3B4A35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0" y="5883275"/>
            <a:ext cx="609600" cy="6096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659DD07-A6A1-4FD5-982F-81416BD282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700" y="5883275"/>
            <a:ext cx="609600" cy="6096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3E45279-5DEA-482D-860C-4A125DA010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589068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743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9796-3D51-49EF-814B-F8313350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400" spc="300" dirty="0">
                <a:solidFill>
                  <a:srgbClr val="FF0000"/>
                </a:solidFill>
                <a:latin typeface="Noto Sans ExtCond" panose="020B0806040504090204" pitchFamily="34"/>
                <a:ea typeface="Noto Sans ExtCond" panose="020B0806040504090204" pitchFamily="34"/>
                <a:cs typeface="Noto Sans ExtCond" panose="020B0806040504090204" pitchFamily="34"/>
              </a:rPr>
              <a:t>FUTURE SCOPE</a:t>
            </a:r>
            <a:endParaRPr lang="en-GB" sz="6400" spc="300" dirty="0">
              <a:solidFill>
                <a:srgbClr val="FF0000"/>
              </a:solidFill>
              <a:latin typeface="Noto Sans ExtCond" panose="020B0806040504090204" pitchFamily="34"/>
              <a:ea typeface="Noto Sans ExtCond" panose="020B0806040504090204" pitchFamily="34"/>
              <a:cs typeface="Noto Sans ExtCond" panose="020B0806040504090204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46F5E-B853-4A62-A368-8D67A12AB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54456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605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Noto Sans ExtCond</vt:lpstr>
      <vt:lpstr>Office Theme</vt:lpstr>
      <vt:lpstr>BAYHARBOURDONOR</vt:lpstr>
      <vt:lpstr>TEAM MEMBERS</vt:lpstr>
      <vt:lpstr>INTRODUCTION</vt:lpstr>
      <vt:lpstr>LITERATURE SURVEY</vt:lpstr>
      <vt:lpstr>RESEARCH GAPS</vt:lpstr>
      <vt:lpstr>PROBLEM STATEMENT</vt:lpstr>
      <vt:lpstr>PROPOSED SOLUTION</vt:lpstr>
      <vt:lpstr>SYSTEM ARCHITECTURE</vt:lpstr>
      <vt:lpstr>TECHNOLOGY STACK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BayHarbourDonor</dc:title>
  <dc:creator>Spectre Wet Works</dc:creator>
  <cp:lastModifiedBy>Spectre Wet Works</cp:lastModifiedBy>
  <cp:revision>74</cp:revision>
  <dcterms:created xsi:type="dcterms:W3CDTF">2026-09-07T07:39:14Z</dcterms:created>
  <dcterms:modified xsi:type="dcterms:W3CDTF">2026-09-09T08:04:05Z</dcterms:modified>
</cp:coreProperties>
</file>