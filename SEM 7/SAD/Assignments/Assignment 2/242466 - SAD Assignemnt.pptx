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505239-9F49-426F-8277-BF2D50ABEA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Ransomware  -  SAD Assignment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864D5-7BE9-4296-85BF-D5131003C8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F3195-AF72-43F8-89FD-22CA130772B9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DCD1A-3EC5-458A-B77C-120C414B4C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C3ACC-82E3-4848-9672-10EBE0CF21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17200-0252-4052-9E8D-6A49D460B0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6486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Ransomware  -  SAD Assignment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AABA5-5414-450F-B69F-F9C0F4F30FEE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A1AC4-52E4-4F96-821D-BCD201C1E4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8597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Ransomware  -  SAD Assignment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A1AC4-52E4-4F96-821D-BCD201C1E45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0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F54413D-C7F1-48F4-88CB-557AB94D14D9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5553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56B43-A13D-45D1-B6A7-37C99941880B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40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AE5E-F08B-466C-A871-7715C9DCDD8B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969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DFD85-46BB-4C59-9F7D-60B339DC2F67}" type="datetime1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12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4CB3-A0CA-44B7-802A-47FEFD8E5DCF}" type="datetime1">
              <a:rPr lang="en-GB" smtClean="0"/>
              <a:t>30/09/2026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12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9EAE2-5EC5-4520-80C6-080B8204C8C2}" type="datetime1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92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BEB1-1F51-4D1F-A396-97967C6E75B8}" type="datetime1">
              <a:rPr lang="en-GB" smtClean="0"/>
              <a:t>30/09/2026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8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E7A-B689-4B00-AEDB-E18862ACB370}" type="datetime1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9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D442-AD9E-4528-9FF3-928305BA6A0A}" type="datetime1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061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C9A5-BADA-45CF-87B3-3D8A80F8633D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73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1DBE-2A3F-4F64-9AA6-C6D6519796A6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43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C617B5D-8B4A-48F9-B742-2D3A7524EB81}" type="datetime1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GB"/>
              <a:t>Abdurrahman Qureshi   -   242466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B96C242-BC6E-485D-A176-8E59E246AC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66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70E0-8518-49D5-BBBB-F2CB850F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153" y="-374280"/>
            <a:ext cx="9418320" cy="4041648"/>
          </a:xfrm>
        </p:spPr>
        <p:txBody>
          <a:bodyPr/>
          <a:lstStyle/>
          <a:p>
            <a:r>
              <a:rPr lang="en-US" sz="5400" dirty="0"/>
              <a:t>RANSOMWARE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DE33C-735C-407F-9F7D-84FEA5C0E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153" y="3667368"/>
            <a:ext cx="9418320" cy="1691640"/>
          </a:xfrm>
        </p:spPr>
        <p:txBody>
          <a:bodyPr/>
          <a:lstStyle/>
          <a:p>
            <a:r>
              <a:rPr lang="en-US" dirty="0"/>
              <a:t>ABDURRAHMAN QURESHI</a:t>
            </a:r>
          </a:p>
          <a:p>
            <a:r>
              <a:rPr lang="en-US" dirty="0"/>
              <a:t>242466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1CE70-5D3F-4EC2-B5A3-1286D6696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687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65172"/>
      </p:ext>
    </p:extLst>
  </p:cSld>
  <p:clrMapOvr>
    <a:masterClrMapping/>
  </p:clrMapOvr>
  <p:transition spd="slow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840C-4437-429A-8460-7CFCB3E4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11" y="365760"/>
            <a:ext cx="9692640" cy="1325562"/>
          </a:xfrm>
        </p:spPr>
        <p:txBody>
          <a:bodyPr/>
          <a:lstStyle/>
          <a:p>
            <a:r>
              <a:rPr lang="en-GB" b="1" dirty="0"/>
              <a:t>What is Ransomware?</a:t>
            </a:r>
            <a:endParaRPr lang="en-GB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311A5FE1-4979-45BC-82FE-9E743BC6D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44" y="1691322"/>
            <a:ext cx="5195096" cy="4351338"/>
          </a:xfr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B2BAD3-D27A-4170-9DB4-9E1CE578110C}"/>
              </a:ext>
            </a:extLst>
          </p:cNvPr>
          <p:cNvSpPr txBox="1"/>
          <p:nvPr/>
        </p:nvSpPr>
        <p:spPr>
          <a:xfrm>
            <a:off x="316211" y="2336800"/>
            <a:ext cx="75616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Malware that encrypts files and demands payment for release</a:t>
            </a:r>
          </a:p>
          <a:p>
            <a:endParaRPr lang="en-GB" dirty="0"/>
          </a:p>
          <a:p>
            <a:r>
              <a:rPr lang="en-GB" dirty="0"/>
              <a:t>Comes from words "ransom" and "software" combined</a:t>
            </a:r>
          </a:p>
          <a:p>
            <a:endParaRPr lang="en-GB" dirty="0"/>
          </a:p>
          <a:p>
            <a:r>
              <a:rPr lang="en-GB" dirty="0"/>
              <a:t>It holds your data hostage, not just steals it</a:t>
            </a:r>
          </a:p>
          <a:p>
            <a:endParaRPr lang="en-GB" dirty="0"/>
          </a:p>
          <a:p>
            <a:r>
              <a:rPr lang="en-GB" dirty="0"/>
              <a:t>Payment demanded in cryptocurrency, which is hard to trace</a:t>
            </a:r>
          </a:p>
          <a:p>
            <a:endParaRPr lang="en-GB" dirty="0"/>
          </a:p>
          <a:p>
            <a:r>
              <a:rPr lang="en-GB" dirty="0"/>
              <a:t>Targets individuals, hospitals, banks, schools, and governments</a:t>
            </a:r>
          </a:p>
          <a:p>
            <a:endParaRPr lang="en-GB" dirty="0"/>
          </a:p>
          <a:p>
            <a:r>
              <a:rPr lang="en-GB" dirty="0"/>
              <a:t>Like someone changing all your locks and selling keys</a:t>
            </a:r>
          </a:p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9E128A9-F828-4A02-A71E-B1317E3A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460C3C9-884D-48CB-8AE7-83F1BA4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883014"/>
      </p:ext>
    </p:extLst>
  </p:cSld>
  <p:clrMapOvr>
    <a:masterClrMapping/>
  </p:clrMapOvr>
  <p:transition spd="slow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ED39-2CF9-4901-8A05-55384283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58" y="365760"/>
            <a:ext cx="10635354" cy="1325562"/>
          </a:xfrm>
        </p:spPr>
        <p:txBody>
          <a:bodyPr/>
          <a:lstStyle/>
          <a:p>
            <a:r>
              <a:rPr lang="en-GB" b="1" dirty="0"/>
              <a:t>How It WORKS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4D597B-6954-443C-98FE-BC322586CB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756" y="1691322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7B67FF-7C25-4A84-9339-70A2068933C4}"/>
              </a:ext>
            </a:extLst>
          </p:cNvPr>
          <p:cNvSpPr txBox="1"/>
          <p:nvPr/>
        </p:nvSpPr>
        <p:spPr>
          <a:xfrm>
            <a:off x="319158" y="2297330"/>
            <a:ext cx="74884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Delivery</a:t>
            </a:r>
            <a:r>
              <a:rPr lang="en-US" dirty="0"/>
              <a:t> :  phishing email, malicious link, fake download, USB drive</a:t>
            </a:r>
          </a:p>
          <a:p>
            <a:endParaRPr lang="en-US" dirty="0"/>
          </a:p>
          <a:p>
            <a:r>
              <a:rPr lang="en-US" b="1" dirty="0"/>
              <a:t>Infection</a:t>
            </a:r>
            <a:r>
              <a:rPr lang="en-US" dirty="0"/>
              <a:t> :  malicious code runs, may stay silent for days</a:t>
            </a:r>
          </a:p>
          <a:p>
            <a:endParaRPr lang="en-US" dirty="0"/>
          </a:p>
          <a:p>
            <a:r>
              <a:rPr lang="en-US" b="1" dirty="0"/>
              <a:t>Encryption</a:t>
            </a:r>
            <a:r>
              <a:rPr lang="en-US" dirty="0"/>
              <a:t> :  files locked using AES and RSA encryption</a:t>
            </a:r>
          </a:p>
          <a:p>
            <a:endParaRPr lang="en-US" dirty="0"/>
          </a:p>
          <a:p>
            <a:r>
              <a:rPr lang="en-US" b="1" dirty="0"/>
              <a:t>Ransom Note </a:t>
            </a:r>
            <a:r>
              <a:rPr lang="en-US" dirty="0"/>
              <a:t>:  payment instructions, deadline, and amount displayed</a:t>
            </a:r>
          </a:p>
          <a:p>
            <a:endParaRPr lang="en-US" dirty="0"/>
          </a:p>
          <a:p>
            <a:r>
              <a:rPr lang="en-US" b="1" dirty="0"/>
              <a:t>Extortion</a:t>
            </a:r>
            <a:r>
              <a:rPr lang="en-US" dirty="0"/>
              <a:t> :  data often stolen first, then payment demanded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E6BEE-8D0A-4E09-BCF3-9FCAEF02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D9527-A4C5-4C0F-AFB5-57172C34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363678"/>
      </p:ext>
    </p:extLst>
  </p:cSld>
  <p:clrMapOvr>
    <a:masterClrMapping/>
  </p:clrMapOvr>
  <p:transition spd="slow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8E5D-B7E6-4BDC-BBF8-559B971E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31" y="365760"/>
            <a:ext cx="10634081" cy="1325562"/>
          </a:xfrm>
        </p:spPr>
        <p:txBody>
          <a:bodyPr/>
          <a:lstStyle/>
          <a:p>
            <a:r>
              <a:rPr lang="en-GB" b="1" dirty="0"/>
              <a:t>Types of RANSOMWARE</a:t>
            </a:r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50F40BD-C3C5-4616-A635-6B1A3DE20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122" y="1828800"/>
            <a:ext cx="4351338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E35706-46CC-45F3-B0AC-AC6560651790}"/>
              </a:ext>
            </a:extLst>
          </p:cNvPr>
          <p:cNvSpPr txBox="1"/>
          <p:nvPr/>
        </p:nvSpPr>
        <p:spPr>
          <a:xfrm>
            <a:off x="320431" y="2413337"/>
            <a:ext cx="70452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Crypto Ransomware </a:t>
            </a:r>
            <a:r>
              <a:rPr lang="en-GB" dirty="0"/>
              <a:t>:  encrypts files, most common type today</a:t>
            </a:r>
          </a:p>
          <a:p>
            <a:endParaRPr lang="en-GB" dirty="0"/>
          </a:p>
          <a:p>
            <a:r>
              <a:rPr lang="en-GB" b="1" dirty="0"/>
              <a:t>Locker Ransomware </a:t>
            </a:r>
            <a:r>
              <a:rPr lang="en-GB" dirty="0"/>
              <a:t>:  locks you out of entire device</a:t>
            </a:r>
          </a:p>
          <a:p>
            <a:endParaRPr lang="en-GB" dirty="0"/>
          </a:p>
          <a:p>
            <a:r>
              <a:rPr lang="en-GB" b="1" dirty="0"/>
              <a:t>Scareware</a:t>
            </a:r>
            <a:r>
              <a:rPr lang="en-GB" dirty="0"/>
              <a:t> :  fake warnings, usually no real encryption</a:t>
            </a:r>
          </a:p>
          <a:p>
            <a:endParaRPr lang="en-GB" dirty="0"/>
          </a:p>
          <a:p>
            <a:r>
              <a:rPr lang="en-GB" b="1" dirty="0" err="1"/>
              <a:t>Leakware</a:t>
            </a:r>
            <a:r>
              <a:rPr lang="en-GB" dirty="0"/>
              <a:t> :  steals data, encrypts it, threatens to publish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F5F783F-7CDF-4321-82D2-1EF7E3E13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56A6A27-476A-45F3-97A2-85AFC1467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537243"/>
      </p:ext>
    </p:extLst>
  </p:cSld>
  <p:clrMapOvr>
    <a:masterClrMapping/>
  </p:clrMapOvr>
  <p:transition spd="slow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4519-FCBB-4F1C-8E60-8CAA70F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82" y="365760"/>
            <a:ext cx="10648230" cy="1325562"/>
          </a:xfrm>
        </p:spPr>
        <p:txBody>
          <a:bodyPr/>
          <a:lstStyle/>
          <a:p>
            <a:r>
              <a:rPr lang="en-GB" b="1" dirty="0"/>
              <a:t>Motives to ATTACK</a:t>
            </a:r>
            <a:endParaRPr lang="en-GB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A8F751F-83FF-4582-9A0E-DADFCA59C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757" y="1828800"/>
            <a:ext cx="4351338" cy="435133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BAEE6B3-2ACB-4317-A39A-E1589A287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6282" y="2265742"/>
            <a:ext cx="71574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Money</a:t>
            </a:r>
            <a:r>
              <a:rPr lang="en-US" altLang="en-US" dirty="0"/>
              <a:t> :  primary driver, millions paid in cryptocurrency</a:t>
            </a:r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RaaS</a:t>
            </a:r>
            <a:r>
              <a:rPr lang="en-US" altLang="en-US" dirty="0"/>
              <a:t> :  kits sold to criminals, profits shared between them</a:t>
            </a:r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High-value targets </a:t>
            </a:r>
            <a:r>
              <a:rPr lang="en-US" altLang="en-US" dirty="0"/>
              <a:t>:  hospitals, banks, schools, governments targeted</a:t>
            </a:r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Geopolitics</a:t>
            </a:r>
            <a:r>
              <a:rPr lang="en-US" altLang="en-US" dirty="0"/>
              <a:t> :  some groups protected or tolerated by states</a:t>
            </a:r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defTabSz="45720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Low risk, high reward </a:t>
            </a:r>
            <a:r>
              <a:rPr lang="en-US" altLang="en-US" dirty="0"/>
              <a:t>:  anonymous payments, cross-border attacks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FC385-B08A-49BE-9942-358A351B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DA22E-EFD1-4759-88E2-32A665AB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329616"/>
      </p:ext>
    </p:extLst>
  </p:cSld>
  <p:clrMapOvr>
    <a:masterClrMapping/>
  </p:clrMapOvr>
  <p:transition spd="slow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DBC2-39E2-4B97-9F9E-CB729610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13" y="365760"/>
            <a:ext cx="10692599" cy="1325562"/>
          </a:xfrm>
        </p:spPr>
        <p:txBody>
          <a:bodyPr/>
          <a:lstStyle/>
          <a:p>
            <a:r>
              <a:rPr lang="en-GB" b="1" dirty="0"/>
              <a:t>FAMOUS Attack INSTANCES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1C259B-97AF-41E4-9346-D2F539FD6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759" y="1969477"/>
            <a:ext cx="4351338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53879A-21B8-4EF2-BBF5-6F0D824AC56E}"/>
              </a:ext>
            </a:extLst>
          </p:cNvPr>
          <p:cNvSpPr txBox="1"/>
          <p:nvPr/>
        </p:nvSpPr>
        <p:spPr>
          <a:xfrm>
            <a:off x="261913" y="2121168"/>
            <a:ext cx="73346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WannaCry (2017)</a:t>
            </a:r>
          </a:p>
          <a:p>
            <a:pPr lvl="1"/>
            <a:r>
              <a:rPr lang="en-US" sz="1600" dirty="0"/>
              <a:t>- Hit 200,000+ computers across 150 countries worldwide</a:t>
            </a:r>
          </a:p>
          <a:p>
            <a:pPr lvl="1"/>
            <a:r>
              <a:rPr lang="en-US" sz="1600" dirty="0"/>
              <a:t>- Crippled UK's NHS hospitals, surgeries and appointments cancelled</a:t>
            </a:r>
          </a:p>
          <a:p>
            <a:endParaRPr lang="en-US" sz="1600" dirty="0"/>
          </a:p>
          <a:p>
            <a:r>
              <a:rPr lang="en-US" sz="1600" b="1" dirty="0" err="1"/>
              <a:t>NotPetya</a:t>
            </a:r>
            <a:r>
              <a:rPr lang="en-US" sz="1600" b="1" dirty="0"/>
              <a:t> (2017)</a:t>
            </a:r>
          </a:p>
          <a:p>
            <a:pPr lvl="1"/>
            <a:r>
              <a:rPr lang="en-US" sz="1600" dirty="0"/>
              <a:t>- Disguised as ransomware and caused approximately $10 billion in global damage</a:t>
            </a:r>
          </a:p>
          <a:p>
            <a:endParaRPr lang="en-US" sz="1600" dirty="0"/>
          </a:p>
          <a:p>
            <a:r>
              <a:rPr lang="en-US" sz="1600" b="1" dirty="0"/>
              <a:t>Colonial Pipeline (2021)</a:t>
            </a:r>
          </a:p>
          <a:p>
            <a:r>
              <a:rPr lang="en-US" sz="1600" dirty="0"/>
              <a:t>	- US fuel pipeline shut down for several days</a:t>
            </a:r>
          </a:p>
          <a:p>
            <a:r>
              <a:rPr lang="en-US" sz="1600" dirty="0"/>
              <a:t>	- ~$4.4M ransom paid, gas shortages across East Coast</a:t>
            </a:r>
          </a:p>
          <a:p>
            <a:endParaRPr lang="en-US" sz="1600" dirty="0"/>
          </a:p>
          <a:p>
            <a:r>
              <a:rPr lang="en-US" sz="1600" b="1" dirty="0"/>
              <a:t>AIIMS Delhi (2022)</a:t>
            </a:r>
          </a:p>
          <a:p>
            <a:r>
              <a:rPr lang="en-US" sz="1600" dirty="0"/>
              <a:t>	- Hospital services disrupted for days across India</a:t>
            </a:r>
          </a:p>
          <a:p>
            <a:endParaRPr lang="en-GB" sz="160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509BA5-F0C9-4584-97B4-F3663BB8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EDF793-70A1-4B52-A633-3A7B486B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1339"/>
      </p:ext>
    </p:extLst>
  </p:cSld>
  <p:clrMapOvr>
    <a:masterClrMapping/>
  </p:clrMapOvr>
  <p:transition spd="slow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09AD-2B3F-46A6-9A1D-20490145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77" y="365760"/>
            <a:ext cx="10610635" cy="1325562"/>
          </a:xfrm>
        </p:spPr>
        <p:txBody>
          <a:bodyPr/>
          <a:lstStyle/>
          <a:p>
            <a:r>
              <a:rPr lang="en-GB" b="1" dirty="0"/>
              <a:t>IMPACT 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FBED45-60F1-41FC-95C4-0673D5154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475" y="1691322"/>
            <a:ext cx="4351338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5D6E44-12B7-487A-AA02-F3A7D9D088AF}"/>
              </a:ext>
            </a:extLst>
          </p:cNvPr>
          <p:cNvSpPr txBox="1"/>
          <p:nvPr/>
        </p:nvSpPr>
        <p:spPr>
          <a:xfrm>
            <a:off x="343877" y="2349341"/>
            <a:ext cx="6478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 loss </a:t>
            </a:r>
            <a:r>
              <a:rPr lang="en-GB" dirty="0"/>
              <a:t>:  files permanently gone without proper backups</a:t>
            </a:r>
          </a:p>
          <a:p>
            <a:endParaRPr lang="en-GB" dirty="0"/>
          </a:p>
          <a:p>
            <a:r>
              <a:rPr lang="en-GB" b="1" dirty="0"/>
              <a:t>Downtime </a:t>
            </a:r>
            <a:r>
              <a:rPr lang="en-GB" dirty="0"/>
              <a:t>:  business operations completely halted for days</a:t>
            </a:r>
          </a:p>
          <a:p>
            <a:endParaRPr lang="en-GB" dirty="0"/>
          </a:p>
          <a:p>
            <a:r>
              <a:rPr lang="en-GB" b="1" dirty="0"/>
              <a:t>Financial loss </a:t>
            </a:r>
            <a:r>
              <a:rPr lang="en-GB" dirty="0"/>
              <a:t>:  ransom plus recovery and legal costs</a:t>
            </a:r>
          </a:p>
          <a:p>
            <a:endParaRPr lang="en-GB" dirty="0"/>
          </a:p>
          <a:p>
            <a:r>
              <a:rPr lang="en-GB" b="1" dirty="0"/>
              <a:t>Reputation damage </a:t>
            </a:r>
            <a:r>
              <a:rPr lang="en-GB" dirty="0"/>
              <a:t>:  lost customer trust and brand value</a:t>
            </a:r>
          </a:p>
          <a:p>
            <a:endParaRPr lang="en-GB" dirty="0"/>
          </a:p>
          <a:p>
            <a:r>
              <a:rPr lang="en-GB" b="1" dirty="0"/>
              <a:t>Real-world harm </a:t>
            </a:r>
            <a:r>
              <a:rPr lang="en-GB" dirty="0"/>
              <a:t>:  delayed surgeries, fuel shortages, closed businesses</a:t>
            </a:r>
          </a:p>
          <a:p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5D586F0-7691-47D9-AAE0-23FBD373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FE9D21-7B7D-4143-B2E7-32864B93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00803"/>
      </p:ext>
    </p:extLst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6673-C400-49C9-BC99-99FC1A6D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365760"/>
            <a:ext cx="10626266" cy="1325562"/>
          </a:xfrm>
        </p:spPr>
        <p:txBody>
          <a:bodyPr/>
          <a:lstStyle/>
          <a:p>
            <a:r>
              <a:rPr lang="en-GB" b="1" dirty="0"/>
              <a:t>PREVENTION &amp; PROTECTION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9FAF58-3EE5-465A-A95C-2B9577DC1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937" y="1828800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0EAA91-1C39-4EE7-BD96-5BB773BE1270}"/>
              </a:ext>
            </a:extLst>
          </p:cNvPr>
          <p:cNvSpPr txBox="1"/>
          <p:nvPr/>
        </p:nvSpPr>
        <p:spPr>
          <a:xfrm>
            <a:off x="328246" y="2266462"/>
            <a:ext cx="62913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Backups</a:t>
            </a:r>
            <a:r>
              <a:rPr lang="en-GB" dirty="0"/>
              <a:t> :  offline, offsite, tested regularly, best </a:t>
            </a:r>
            <a:r>
              <a:rPr lang="en-GB" dirty="0" err="1"/>
              <a:t>defense</a:t>
            </a:r>
            <a:endParaRPr lang="en-GB" dirty="0"/>
          </a:p>
          <a:p>
            <a:endParaRPr lang="en-GB" dirty="0"/>
          </a:p>
          <a:p>
            <a:r>
              <a:rPr lang="en-GB" dirty="0"/>
              <a:t>Never open </a:t>
            </a:r>
            <a:r>
              <a:rPr lang="en-GB" b="1" dirty="0"/>
              <a:t>unknown</a:t>
            </a:r>
            <a:r>
              <a:rPr lang="en-GB" dirty="0"/>
              <a:t> links or email attachments</a:t>
            </a:r>
          </a:p>
          <a:p>
            <a:endParaRPr lang="en-GB" dirty="0"/>
          </a:p>
          <a:p>
            <a:r>
              <a:rPr lang="en-GB" dirty="0"/>
              <a:t>Keep systems </a:t>
            </a:r>
            <a:r>
              <a:rPr lang="en-GB" b="1" dirty="0"/>
              <a:t>updated</a:t>
            </a:r>
            <a:r>
              <a:rPr lang="en-GB" dirty="0"/>
              <a:t> and </a:t>
            </a:r>
            <a:r>
              <a:rPr lang="en-GB" b="1" dirty="0"/>
              <a:t>patched</a:t>
            </a:r>
            <a:r>
              <a:rPr lang="en-GB" dirty="0"/>
              <a:t> against vulnerabilities</a:t>
            </a:r>
          </a:p>
          <a:p>
            <a:endParaRPr lang="en-GB" dirty="0"/>
          </a:p>
          <a:p>
            <a:r>
              <a:rPr lang="en-GB" dirty="0"/>
              <a:t>Use antivirus, tools, and firewalls</a:t>
            </a:r>
          </a:p>
          <a:p>
            <a:endParaRPr lang="en-GB" dirty="0"/>
          </a:p>
          <a:p>
            <a:r>
              <a:rPr lang="en-GB" dirty="0"/>
              <a:t>Use strong password</a:t>
            </a:r>
            <a:endParaRPr lang="en-GB" b="1" dirty="0"/>
          </a:p>
          <a:p>
            <a:endParaRPr lang="en-GB" dirty="0"/>
          </a:p>
          <a:p>
            <a:r>
              <a:rPr lang="en-GB" b="1" dirty="0"/>
              <a:t>Never pay ransom </a:t>
            </a:r>
            <a:r>
              <a:rPr lang="en-GB" dirty="0"/>
              <a:t>:  no guarantee, funds more crime</a:t>
            </a:r>
          </a:p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1A3AC-8BDC-44DF-9ACB-6A7EEDD8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Abdurrahman Qureshi   -   242466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6A387-1BDC-46FB-8836-E8445FA9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B96C242-BC6E-485D-A176-8E59E246AC6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48382"/>
      </p:ext>
    </p:extLst>
  </p:cSld>
  <p:clrMapOvr>
    <a:masterClrMapping/>
  </p:clrMapOvr>
  <p:transition spd="slow">
    <p:cover dir="r"/>
  </p:transition>
</p:sld>
</file>

<file path=ppt/theme/theme1.xml><?xml version="1.0" encoding="utf-8"?>
<a:theme xmlns:a="http://schemas.openxmlformats.org/drawingml/2006/main" name="View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90</TotalTime>
  <Words>442</Words>
  <Application>Microsoft Office PowerPoint</Application>
  <PresentationFormat>Widescreen</PresentationFormat>
  <Paragraphs>96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Schoolbook</vt:lpstr>
      <vt:lpstr>Wingdings 2</vt:lpstr>
      <vt:lpstr>View</vt:lpstr>
      <vt:lpstr>RANSOMWARE</vt:lpstr>
      <vt:lpstr>What is Ransomware?</vt:lpstr>
      <vt:lpstr>How It WORKS</vt:lpstr>
      <vt:lpstr>Types of RANSOMWARE</vt:lpstr>
      <vt:lpstr>Motives to ATTACK</vt:lpstr>
      <vt:lpstr>FAMOUS Attack INSTANCES</vt:lpstr>
      <vt:lpstr>IMPACT </vt:lpstr>
      <vt:lpstr>PREVENTION &amp; PROTECTION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</dc:title>
  <dc:creator>Spectre Wet Works</dc:creator>
  <cp:lastModifiedBy>Spectre Wet Works</cp:lastModifiedBy>
  <cp:revision>20</cp:revision>
  <dcterms:created xsi:type="dcterms:W3CDTF">2026-09-23T17:19:45Z</dcterms:created>
  <dcterms:modified xsi:type="dcterms:W3CDTF">2026-09-29T20:40:48Z</dcterms:modified>
</cp:coreProperties>
</file>