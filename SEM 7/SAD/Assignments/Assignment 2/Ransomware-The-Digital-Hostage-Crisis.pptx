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Kanit Light" panose="020B0604020202020204" charset="-34"/>
      <p:regular r:id="rId14"/>
    </p:embeddedFont>
    <p:embeddedFont>
      <p:font typeface="Martel Sans" panose="020B0604020202020204" charset="0"/>
      <p:regular r:id="rId15"/>
    </p:embeddedFont>
    <p:embeddedFont>
      <p:font typeface="Martel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68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Ransomware: The Digital Hostage Crisis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Understanding, Preventing, and Responding to Modern Extortion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75336"/>
            <a:ext cx="1454312" cy="287139"/>
          </a:xfrm>
          <a:prstGeom prst="roundRect">
            <a:avLst>
              <a:gd name="adj" fmla="val 22118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331990"/>
            <a:ext cx="18370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CYBERSECURITY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82126" y="4275336"/>
            <a:ext cx="178519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95531" y="4331990"/>
            <a:ext cx="21679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THREAT AWARENESS</a:t>
            </a:r>
            <a:endParaRPr lang="en-US" sz="11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8A8BE2-A6AE-4E8C-98E9-4619D097A150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5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is Ransomware?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633" y="1783655"/>
            <a:ext cx="1904952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77690"/>
            <a:ext cx="350421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Ransomware is malicious software that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encrypts a victim's files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or locks their system, demanding a ransom payment to restore access. It is not merely a technical problem — it is a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criminal enterprise focused on extortion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77308"/>
            <a:ext cx="3496877" cy="20471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43917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Encryption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480040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Files are scrambled, making them completely unusable.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359" y="4177308"/>
            <a:ext cx="3496877" cy="20471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43917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Ransom Note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480040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screen message demands payment in cryptocurrency with a strict deadline.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244" y="4177308"/>
            <a:ext cx="3496877" cy="20471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439172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Double Extortion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4800402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Attackers steal sensitive data 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before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encrypting it, threatening to leak it if the ransom is not paid.</a:t>
            </a:r>
            <a:endParaRPr lang="en-US" sz="14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6676BD-AD47-471C-9EEE-67E084827DE0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Common Types of Ransomware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702693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800" y="185856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Crypto-Ransomware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Encrypts files on local and connected drives. 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e.g., Locky, WannaCry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1702693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8684" y="185856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Locker-Ransomware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2867422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Locks users out of their entire device. 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e.g., Reveton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0733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1702693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4568" y="185856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Scareware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Fake security alerts demanding payment for bogus cleanup tools. </a:t>
            </a:r>
            <a:r>
              <a:rPr lang="en-US" sz="14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e.g., WinFixer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832" y="4354413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2800" y="451028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Doxware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51914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Threatens to publish stolen sensitive data online unless the ransom is paid.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658" y="4354413"/>
            <a:ext cx="567021" cy="567035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1626" y="451028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51104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Ransomware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519142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Targets smartphones and tablets, locking screens or encrypting device files.</a:t>
            </a:r>
            <a:endParaRPr lang="en-US" sz="14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C2DBF4-7B5C-48E1-85FF-A20BBACF3422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99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a Ransomware Attack Unfolds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67730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ransomware attacks follow a predictable sequence — understanding each stage helps identify where defenses can intervene.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80359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075656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199382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Infection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560042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Attacker gains access via phishing emails, exploit kits, or weak RDP credentials.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3435" y="180359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3435" y="2075656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6173435" y="2199382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Execution &amp; Staging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173435" y="2560042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Malware runs, connects to the attacker's server, and spreads laterally across the network.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366095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638153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761879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Exfiltration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1475" y="4122539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Sensitive data is stolen and sent to the attacker </a:t>
            </a:r>
            <a:r>
              <a:rPr lang="en-US" sz="130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before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encryption begins.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3435" y="3366095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3435" y="3638153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3435" y="3761879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Encryption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173435" y="4122539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Files, folders, and sometimes entire drives are encrypted, rendering them inaccessible.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492859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5200650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324376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Ransom Demand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1475" y="5685036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ransom note demands cryptocurrency payment within a set deadline.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3435" y="492859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3435" y="5200650"/>
            <a:ext cx="5356786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3435" y="5324376"/>
            <a:ext cx="53567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Payment &amp; (Maybe) Decryption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173435" y="5685036"/>
            <a:ext cx="535678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victim pays, but there is no guarantee the attacker will provide a decryption key.</a:t>
            </a:r>
            <a:endParaRPr lang="en-US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5D7AB3-49B7-49CE-8EA1-72E6DE1264DC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Prevention is the Best Defense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For Individuals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Backups: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Follow the 3-2-1 rule — 3 copies, 2 media types, 1 offsite.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Software Updates: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Keep OS, browsers, and apps patched.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Email Hygiene: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Never click suspicious links or open unexpected attachments.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Antivirus / EDR: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Keep security software up to date.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6196651" y="1634530"/>
            <a:ext cx="5476043" cy="4462959"/>
          </a:xfrm>
          <a:prstGeom prst="roundRect">
            <a:avLst>
              <a:gd name="adj" fmla="val 3049"/>
            </a:avLst>
          </a:prstGeom>
          <a:solidFill>
            <a:srgbClr val="437066"/>
          </a:solidFill>
          <a:ln/>
        </p:spPr>
      </p:sp>
      <p:sp>
        <p:nvSpPr>
          <p:cNvPr id="13" name="Text 7"/>
          <p:cNvSpPr/>
          <p:nvPr/>
        </p:nvSpPr>
        <p:spPr>
          <a:xfrm>
            <a:off x="6385658" y="182354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For Organizations</a:t>
            </a:r>
            <a:endParaRPr lang="en-US" sz="1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6499" y="2340868"/>
            <a:ext cx="283461" cy="283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99906" y="2331442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Employee Training:</a:t>
            </a: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Regular security awareness training is essential.</a:t>
            </a:r>
            <a:endParaRPr lang="en-US" sz="14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6499" y="3323729"/>
            <a:ext cx="283461" cy="2834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99906" y="3314303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Network Segmentation:</a:t>
            </a: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Limit how far an infection can spread.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6499" y="4306590"/>
            <a:ext cx="283461" cy="2834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99906" y="4297164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Multi-Factor Authentication:</a:t>
            </a: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Enforce MFA everywhere, especially on RDP.</a:t>
            </a:r>
            <a:endParaRPr lang="en-US" sz="14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6499" y="5289451"/>
            <a:ext cx="283461" cy="2834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99906" y="5280025"/>
            <a:ext cx="448378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Incident Response Plan:</a:t>
            </a: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Have a tested plan ready before an attack happens.</a:t>
            </a:r>
            <a:endParaRPr lang="en-US" sz="1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9B6AE5-0276-4D80-B0A6-E2C32742B880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71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Ransomware in the Headlines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35870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96277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WannaCry (2017)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371453"/>
            <a:ext cx="2539936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Infected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200,000+ computers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across 150 countries via the EternalBlue Windows exploit. Hospitals, telecoms, and businesses hit. Ransom: $300–$600 in Bitcoin.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035870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296277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Colonial Pipeline (2021)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371453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Shut down a major U.S. fuel pipeline, causing gas shortages and panic buying.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~$4.4 million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paid to the DarkSide group.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035870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296277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REvil / Kaseya (2021)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371453"/>
            <a:ext cx="254003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supply-chain attack affecting up to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1,500 businesses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worldwide through a single IT management provider. Ransom demanded: $70 million.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035870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296277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CryptoLocker (2013)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371453"/>
            <a:ext cx="254003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One of the first widespread crypto-ransomware campaigns. Spread via email attachments to Windows PCs. Ransom: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 Bitcoin or $300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Popularized the modern model.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73491-F80A-40D7-8CCD-1BB5F6939887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7588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33360" y="1385788"/>
            <a:ext cx="3059730" cy="2505770"/>
          </a:xfrm>
          <a:prstGeom prst="roundRect">
            <a:avLst>
              <a:gd name="adj" fmla="val 30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2764" y="1575197"/>
            <a:ext cx="2680923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Serious, Evolving Threat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2764" y="2260005"/>
            <a:ext cx="268092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Ransomware combines technology with extortion, affecting individuals, corporations, and critical infrastructure alike.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0390" y="1385788"/>
            <a:ext cx="3059830" cy="2505770"/>
          </a:xfrm>
          <a:prstGeom prst="roundRect">
            <a:avLst>
              <a:gd name="adj" fmla="val 30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9794" y="1575197"/>
            <a:ext cx="2681022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Prevention is Paramount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59794" y="2260005"/>
            <a:ext cx="268102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Backups, patching, and education remain the most effective defenses against attack.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4068862"/>
            <a:ext cx="6296860" cy="1354435"/>
          </a:xfrm>
          <a:prstGeom prst="roundRect">
            <a:avLst>
              <a:gd name="adj" fmla="val 5678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2764" y="4258270"/>
            <a:ext cx="591805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Landscape is Shifting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2764" y="4657030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Double extortion and supply-chain attacks are the new frontier — defenses must evolve too.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07991" y="5822355"/>
            <a:ext cx="6631814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Cybersecurity is not a product, but a continuous process.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622826"/>
            <a:ext cx="25399" cy="687487"/>
          </a:xfrm>
          <a:prstGeom prst="roundRect">
            <a:avLst>
              <a:gd name="adj" fmla="val 50001"/>
            </a:avLst>
          </a:prstGeom>
          <a:solidFill>
            <a:srgbClr val="437066"/>
          </a:solidFill>
          <a:ln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0EE3B5-EB26-416C-9919-BC762B25AD3C}"/>
              </a:ext>
            </a:extLst>
          </p:cNvPr>
          <p:cNvSpPr/>
          <p:nvPr/>
        </p:nvSpPr>
        <p:spPr>
          <a:xfrm>
            <a:off x="10924674" y="6497053"/>
            <a:ext cx="1267326" cy="393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Kanit Light</vt:lpstr>
      <vt:lpstr>Calibri</vt:lpstr>
      <vt:lpstr>Martel Sans Bold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Spectre Wet Works</cp:lastModifiedBy>
  <cp:revision>3</cp:revision>
  <dcterms:created xsi:type="dcterms:W3CDTF">2026-09-11T03:41:29Z</dcterms:created>
  <dcterms:modified xsi:type="dcterms:W3CDTF">2026-09-11T13:58:29Z</dcterms:modified>
</cp:coreProperties>
</file>