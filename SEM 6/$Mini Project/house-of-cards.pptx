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39FC1-AF45-4C46-B480-B9C8F990B6EB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45E13-92BE-4E76-9345-45B15031D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781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245E13-92BE-4E76-9345-45B15031D8E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19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245E13-92BE-4E76-9345-45B15031D8E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682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245E13-92BE-4E76-9345-45B15031D8E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892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245E13-92BE-4E76-9345-45B15031D8E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962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02987-B30B-4560-8B8C-E81711B4D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1ADB7-97AE-49D0-A7E6-CB50BFBB8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A8829-FC2F-437E-844E-81DA98D1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5AA1-E3F7-4466-8625-D61421E070F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ACC73-550A-4A71-876A-DD35B3D9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E1877-9518-4112-9B5B-78775C4B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7BF8-F647-4E0D-8D1A-ED85F906B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3578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AA82-5D1E-41E4-8B81-F0D3F4787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A84B0-EC14-4170-9351-F51BEFD04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46237-C4CA-4274-B94F-3A28A4764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5AA1-E3F7-4466-8625-D61421E070F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9E84C-9CAD-4B31-A4D4-F0A6EA9D0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BA63B-D91E-4934-84E3-8E3F2293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7BF8-F647-4E0D-8D1A-ED85F906B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397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C3A38-9B0C-4658-8BFC-00BDFA46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F64B5-FF07-4C17-B059-5359CAFBD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B933E-A673-4622-85A3-EDD48DF6B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5AA1-E3F7-4466-8625-D61421E070F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F3F01-C59A-428F-AB53-FB9616FD0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972D4-C45E-47FF-9DED-146CE52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7BF8-F647-4E0D-8D1A-ED85F906B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355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29AE-C6A2-4696-8920-55D24DC0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A89D8-9139-4EC1-866E-744DF5E17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17262-4D88-4ACB-A4C2-C07D2C55D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240C5-70B5-4424-AE08-B1242AD4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5AA1-E3F7-4466-8625-D61421E070F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C04D1-70C3-49D0-A304-695E3DE48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9DA4B-5DC2-45EB-B4AC-8B5FD7BBC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7BF8-F647-4E0D-8D1A-ED85F906B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3633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974F-941F-4EA1-B063-F517C413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9A810-F90C-4488-A394-3FF81E63C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77B61-76BC-401E-BAF4-135FADDAF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AB817-D355-4C1B-8671-3B7123EA6F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C7473-1B4F-40FB-B9C0-5A4D710AF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183A2-CDF2-4B28-B051-2CF554AB1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5AA1-E3F7-4466-8625-D61421E070F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3662A6-9374-4314-A43F-F3CA78D7C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A8C276-2FBC-44E9-B832-029CBBD6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7BF8-F647-4E0D-8D1A-ED85F906B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6800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21E68-91A1-465C-893D-A7FE76A2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133DA-3C60-4C47-A7EA-F8220CD2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5AA1-E3F7-4466-8625-D61421E070F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E7D59-8906-4114-9384-92894CC1C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F1C85-D996-4D20-820F-CB504B89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7BF8-F647-4E0D-8D1A-ED85F906B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3523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640F9-E315-4F8C-83EF-9B8BD79D0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5AA1-E3F7-4466-8625-D61421E070F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9E4EC4-C9FD-434F-92C9-0040D636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4758A-9617-4959-A0D5-0F3B15EC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7BF8-F647-4E0D-8D1A-ED85F906B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152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C5F7-0726-44AC-8760-668E5B62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FF84B-2C18-4B71-8B8C-AC2D516C7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9CBD0-7298-4EC9-89D5-18BEE9D52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81CC0-8308-45D7-BE9D-A9C627BB6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5AA1-E3F7-4466-8625-D61421E070F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13C5E-F590-42CD-AF4A-5726E528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EF8E2-C160-45E5-AB21-3865F017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7BF8-F647-4E0D-8D1A-ED85F906B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0727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AD70-092E-47FB-B27B-FDA172B10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18BB63-AD2B-4C0B-BF4C-4820196D8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BE137-822C-4250-AF1C-B35773805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CFA79-2FBA-4289-B5DC-93AD6A81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5AA1-E3F7-4466-8625-D61421E070F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5DAC8-CB16-4419-9630-AB2EA75CE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8FAD2-6F3B-4E23-A1E6-1B76725B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7BF8-F647-4E0D-8D1A-ED85F906B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3336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4CD2-4AE7-474E-A9EF-15AD859D4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52643-24D7-4D81-A258-DD0017668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E9C98-910C-4536-B3B9-86D4F251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5AA1-E3F7-4466-8625-D61421E070F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3ECCA-A75B-40EC-BAD8-E4352B358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0F435-59EC-4EEB-86A1-7EB9AA5B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7BF8-F647-4E0D-8D1A-ED85F906B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633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Sing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B32E70-7F79-45D1-8AFF-C3DEEA4B97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69072-D8E7-4F71-99C1-555945557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38554-FB30-4D05-8096-8A8E40843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95AA1-E3F7-4466-8625-D61421E070F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B3550-B010-4460-B7EB-386E98DCA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4957F-16A8-42D4-A1FA-84E88FEC7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7BF8-F647-4E0D-8D1A-ED85F906B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2047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Sing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CAA22-AC22-49F6-9AE2-982A0AFDE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89851-B3F7-4BBA-8324-A77B94E36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9FFCA-AC43-4683-B8D2-81C3F67EE7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95AA1-E3F7-4466-8625-D61421E070F6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91CEE-E4C1-4F9C-92F9-9F660A492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076C-8207-4086-B726-F49DA915A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C7BF8-F647-4E0D-8D1A-ED85F906B2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80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ageCurlSing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94239-B2A4-490C-8194-D66DF8EE4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1708"/>
            <a:ext cx="9144000" cy="3994583"/>
          </a:xfrm>
          <a:solidFill>
            <a:srgbClr val="262626"/>
          </a:solidFill>
        </p:spPr>
        <p:txBody>
          <a:bodyPr>
            <a:normAutofit/>
          </a:bodyPr>
          <a:lstStyle/>
          <a:p>
            <a:r>
              <a:rPr lang="en-IN" sz="8800" b="1" spc="600" dirty="0">
                <a:solidFill>
                  <a:srgbClr val="DDDDDD"/>
                </a:solidFill>
                <a:latin typeface="Harry P" panose="00000400000000000000" pitchFamily="2" charset="0"/>
              </a:rPr>
              <a:t>H</a:t>
            </a:r>
            <a:r>
              <a:rPr lang="en-IN" sz="6600" b="1" spc="600" dirty="0">
                <a:solidFill>
                  <a:srgbClr val="DDDDDD"/>
                </a:solidFill>
                <a:latin typeface="Harry P" panose="00000400000000000000" pitchFamily="2" charset="0"/>
              </a:rPr>
              <a:t>ɸ</a:t>
            </a:r>
            <a:r>
              <a:rPr lang="en-IN" sz="8800" b="1" spc="600" dirty="0">
                <a:solidFill>
                  <a:srgbClr val="DDDDDD"/>
                </a:solidFill>
                <a:latin typeface="Harry P" panose="00000400000000000000" pitchFamily="2" charset="0"/>
              </a:rPr>
              <a:t>u$e </a:t>
            </a:r>
            <a:r>
              <a:rPr lang="en-IN" sz="6600" b="1" spc="600" dirty="0">
                <a:solidFill>
                  <a:srgbClr val="DDDDDD"/>
                </a:solidFill>
                <a:latin typeface="Harry P" panose="00000400000000000000" pitchFamily="2" charset="0"/>
              </a:rPr>
              <a:t>ɸ</a:t>
            </a:r>
            <a:r>
              <a:rPr lang="en-IN" sz="8800" b="1" spc="600" dirty="0">
                <a:solidFill>
                  <a:srgbClr val="DDDDDD"/>
                </a:solidFill>
                <a:latin typeface="Harry P" panose="00000400000000000000" pitchFamily="2" charset="0"/>
              </a:rPr>
              <a:t>f Card$</a:t>
            </a:r>
            <a:br>
              <a:rPr lang="en-IN" sz="8800" b="1" spc="600" dirty="0">
                <a:solidFill>
                  <a:srgbClr val="DDDDDD"/>
                </a:solidFill>
                <a:latin typeface="Harry P" panose="00000400000000000000" pitchFamily="2" charset="0"/>
              </a:rPr>
            </a:br>
            <a:endParaRPr lang="en-IN" sz="8800" b="1" spc="600" dirty="0">
              <a:solidFill>
                <a:srgbClr val="DDDDDD"/>
              </a:solidFill>
              <a:latin typeface="Harry P" panose="000004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C292E1-FC02-4B14-9ACE-059CD219B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00" y="4196182"/>
            <a:ext cx="2340000" cy="234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CFE4FE-6130-42A6-AF4D-16955F8DF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340000" cy="234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370B3D-F977-4DFD-AFE1-3B861880D8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000" y="360000"/>
            <a:ext cx="2340000" cy="234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47E1A2-FEA8-41A4-9C15-4569776218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2000" y="4256291"/>
            <a:ext cx="2340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351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D7BCE-A06F-4B6B-AE46-B616F911E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265"/>
            <a:ext cx="10515600" cy="799375"/>
          </a:xfrm>
        </p:spPr>
        <p:txBody>
          <a:bodyPr/>
          <a:lstStyle/>
          <a:p>
            <a:r>
              <a:rPr lang="en-US" spc="300" dirty="0">
                <a:solidFill>
                  <a:srgbClr val="DDDDDD"/>
                </a:solidFill>
                <a:latin typeface="Lucida Bright" panose="02040602050505020304" pitchFamily="18" charset="0"/>
              </a:rPr>
              <a:t>MS. SWATI </a:t>
            </a:r>
            <a:endParaRPr lang="en-IN" spc="300" dirty="0">
              <a:solidFill>
                <a:srgbClr val="DDDDDD"/>
              </a:solidFill>
              <a:latin typeface="Lucida Bright" panose="020406020505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DD9D98-5101-4D54-8A2B-0039250AB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9640"/>
            <a:ext cx="10515600" cy="1325563"/>
          </a:xfrm>
        </p:spPr>
        <p:txBody>
          <a:bodyPr>
            <a:normAutofit/>
          </a:bodyPr>
          <a:lstStyle/>
          <a:p>
            <a:r>
              <a:rPr lang="en-IN" sz="8000" b="1" spc="600" dirty="0" err="1">
                <a:solidFill>
                  <a:srgbClr val="DDDDDD"/>
                </a:solidFill>
                <a:latin typeface="Harry P" panose="00000400000000000000" pitchFamily="2" charset="0"/>
              </a:rPr>
              <a:t>Gr</a:t>
            </a:r>
            <a:r>
              <a:rPr lang="en-IN" sz="6000" b="1" spc="600" dirty="0" err="1">
                <a:solidFill>
                  <a:srgbClr val="DDDDDD"/>
                </a:solidFill>
                <a:latin typeface="Harry P" panose="00000400000000000000" pitchFamily="2" charset="0"/>
              </a:rPr>
              <a:t>ɸ</a:t>
            </a:r>
            <a:r>
              <a:rPr lang="en-IN" sz="8000" b="1" spc="600" dirty="0" err="1">
                <a:solidFill>
                  <a:srgbClr val="DDDDDD"/>
                </a:solidFill>
                <a:latin typeface="Harry P" panose="00000400000000000000" pitchFamily="2" charset="0"/>
              </a:rPr>
              <a:t>up</a:t>
            </a:r>
            <a:r>
              <a:rPr lang="en-IN" sz="8000" b="1" spc="600" dirty="0">
                <a:solidFill>
                  <a:srgbClr val="DDDDDD"/>
                </a:solidFill>
                <a:latin typeface="Harry P" panose="00000400000000000000" pitchFamily="2" charset="0"/>
              </a:rPr>
              <a:t> Member$</a:t>
            </a:r>
            <a:endParaRPr lang="en-IN" sz="8000" dirty="0">
              <a:solidFill>
                <a:srgbClr val="DDDDDD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FB54329-776B-49C1-8744-C373F8ED849C}"/>
              </a:ext>
            </a:extLst>
          </p:cNvPr>
          <p:cNvSpPr txBox="1">
            <a:spLocks/>
          </p:cNvSpPr>
          <p:nvPr/>
        </p:nvSpPr>
        <p:spPr>
          <a:xfrm>
            <a:off x="838200" y="61470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8000" b="1" spc="600" dirty="0">
                <a:solidFill>
                  <a:srgbClr val="DDDDDD"/>
                </a:solidFill>
                <a:latin typeface="Harry P" panose="020F0502020204030204" pitchFamily="2" charset="0"/>
              </a:rPr>
              <a:t>Guide</a:t>
            </a:r>
            <a:endParaRPr lang="en-IN" sz="8000" dirty="0">
              <a:solidFill>
                <a:srgbClr val="DDDDDD"/>
              </a:solidFill>
              <a:latin typeface="Harry P" panose="020F0502020204030204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FF4F62-7B5B-41EF-9FEF-9C60202EED89}"/>
              </a:ext>
            </a:extLst>
          </p:cNvPr>
          <p:cNvSpPr txBox="1">
            <a:spLocks/>
          </p:cNvSpPr>
          <p:nvPr/>
        </p:nvSpPr>
        <p:spPr>
          <a:xfrm>
            <a:off x="838200" y="4065203"/>
            <a:ext cx="10515600" cy="2124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300" dirty="0">
                <a:solidFill>
                  <a:srgbClr val="DDDDDD"/>
                </a:solidFill>
                <a:latin typeface="Lucida Bright" panose="02040602050505020304" pitchFamily="18" charset="0"/>
              </a:rPr>
              <a:t>YAMIN KHAN</a:t>
            </a:r>
          </a:p>
          <a:p>
            <a:r>
              <a:rPr lang="en-US" spc="300" dirty="0">
                <a:solidFill>
                  <a:srgbClr val="DDDDDD"/>
                </a:solidFill>
                <a:latin typeface="Lucida Bright" panose="02040602050505020304" pitchFamily="18" charset="0"/>
              </a:rPr>
              <a:t>ABDURRAHMAN QURESHI</a:t>
            </a:r>
          </a:p>
          <a:p>
            <a:r>
              <a:rPr lang="en-US" spc="300" dirty="0">
                <a:solidFill>
                  <a:srgbClr val="DDDDDD"/>
                </a:solidFill>
                <a:latin typeface="Lucida Bright" panose="02040602050505020304" pitchFamily="18" charset="0"/>
              </a:rPr>
              <a:t>RUMAAN SHAIKH</a:t>
            </a:r>
          </a:p>
          <a:p>
            <a:r>
              <a:rPr lang="en-US" spc="300" dirty="0">
                <a:solidFill>
                  <a:srgbClr val="DDDDDD"/>
                </a:solidFill>
                <a:latin typeface="Lucida Bright" panose="02040602050505020304" pitchFamily="18" charset="0"/>
              </a:rPr>
              <a:t>HAADIYA SAYED</a:t>
            </a:r>
            <a:endParaRPr lang="en-IN" spc="300" dirty="0">
              <a:solidFill>
                <a:srgbClr val="DDDDDD"/>
              </a:solidFill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554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FFB06-9B28-4FBD-B0B3-1ECC3D86D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800" dirty="0" err="1">
                <a:solidFill>
                  <a:srgbClr val="DDDDDD"/>
                </a:solidFill>
                <a:latin typeface="Harry P" panose="00000400000000000000" pitchFamily="2" charset="0"/>
              </a:rPr>
              <a:t>Pr</a:t>
            </a:r>
            <a:r>
              <a:rPr lang="en-IN" sz="6000" b="1" spc="600" dirty="0">
                <a:solidFill>
                  <a:srgbClr val="DDDDDD"/>
                </a:solidFill>
                <a:latin typeface="Harry P" panose="00000400000000000000" pitchFamily="2" charset="0"/>
              </a:rPr>
              <a:t>ɸ</a:t>
            </a:r>
            <a:r>
              <a:rPr lang="en-US" sz="8800" dirty="0" err="1">
                <a:solidFill>
                  <a:srgbClr val="DDDDDD"/>
                </a:solidFill>
                <a:latin typeface="Harry P" panose="00000400000000000000" pitchFamily="2" charset="0"/>
              </a:rPr>
              <a:t>blem</a:t>
            </a:r>
            <a:r>
              <a:rPr lang="en-US" sz="8800" dirty="0">
                <a:solidFill>
                  <a:srgbClr val="DDDDDD"/>
                </a:solidFill>
                <a:latin typeface="Harry P" panose="00000400000000000000" pitchFamily="2" charset="0"/>
              </a:rPr>
              <a:t> $</a:t>
            </a:r>
            <a:r>
              <a:rPr lang="en-US" sz="8800" dirty="0" err="1">
                <a:solidFill>
                  <a:srgbClr val="DDDDDD"/>
                </a:solidFill>
                <a:latin typeface="Harry P" panose="00000400000000000000" pitchFamily="2" charset="0"/>
              </a:rPr>
              <a:t>tatement</a:t>
            </a:r>
            <a:endParaRPr lang="en-IN" sz="8800" dirty="0">
              <a:solidFill>
                <a:srgbClr val="DDDDDD"/>
              </a:solidFill>
              <a:latin typeface="Harry P" panose="000004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5AB57-03A1-4A68-952D-FA4267675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2025650"/>
            <a:ext cx="11658600" cy="48323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DDDDDD"/>
                </a:solidFill>
                <a:latin typeface="Lucida Bright" panose="02040602050505020304" pitchFamily="18" charset="0"/>
              </a:rPr>
              <a:t>Traditional card games depend mostly on luck and offer limited strategic depth. House of Cards is a themed card game that combines numerical risk management with special-action cards from different houses and a bit of luck.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DDDDDD"/>
                </a:solidFill>
                <a:latin typeface="Lucida Bright" panose="02040602050505020304" pitchFamily="18" charset="0"/>
              </a:rPr>
              <a:t>The game supports both human players and AI-controlled bots, allowing solo practice and strategy learning.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DDDDDD"/>
                </a:solidFill>
                <a:latin typeface="Lucida Bright" panose="02040602050505020304" pitchFamily="18" charset="0"/>
              </a:rPr>
              <a:t>Special cards introduce dynamic effects such as doubling values, copying moves, swapping cards, and blocking actions, making gameplay more interactive, competitive, and </a:t>
            </a:r>
            <a:r>
              <a:rPr lang="en-US" dirty="0" err="1">
                <a:solidFill>
                  <a:srgbClr val="DDDDDD"/>
                </a:solidFill>
                <a:latin typeface="Lucida Bright" panose="02040602050505020304" pitchFamily="18" charset="0"/>
              </a:rPr>
              <a:t>replayable</a:t>
            </a:r>
            <a:r>
              <a:rPr lang="en-US" dirty="0">
                <a:solidFill>
                  <a:srgbClr val="DDDDDD"/>
                </a:solidFill>
              </a:rPr>
              <a:t>.</a:t>
            </a:r>
            <a:endParaRPr lang="en-IN" dirty="0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5442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AEF762D-875B-4524-A9AC-B0914487A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708467-97D3-487D-BC7D-5DCBE8392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7FE290-99ED-4065-B076-B67B65FF1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7211" y="-246299"/>
            <a:ext cx="12506421" cy="721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189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4A3034C-DC61-475E-8C73-D18E2715CC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43"/>
          <a:stretch/>
        </p:blipFill>
        <p:spPr>
          <a:xfrm>
            <a:off x="0" y="1062235"/>
            <a:ext cx="12192000" cy="462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895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1548F89-872B-46F5-949E-D55EAC3F8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84479" y="1944209"/>
            <a:ext cx="16095937" cy="307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061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38FA4-5E07-4A1C-8BEF-0D5671087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A4F81-3636-4B6D-9741-3957D786C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7798"/>
            <a:ext cx="12192000" cy="57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510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840701-AA98-4142-AD2F-2975FB498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9620" y="1351625"/>
            <a:ext cx="14922475" cy="415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6813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39D9739-ACB4-400B-8171-88901A995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0" y="551605"/>
            <a:ext cx="1848469" cy="2584969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FC1E5F-1375-499D-8B16-6A30B4E71A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2188"/>
          <a:stretch/>
        </p:blipFill>
        <p:spPr>
          <a:xfrm>
            <a:off x="0" y="0"/>
            <a:ext cx="8267700" cy="36066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05A45-A132-4903-8C64-0936A07B08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604"/>
          <a:stretch/>
        </p:blipFill>
        <p:spPr>
          <a:xfrm>
            <a:off x="3365500" y="3244246"/>
            <a:ext cx="8826500" cy="36137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BC7802-2068-45FB-A421-23C4600E32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83075"/>
            <a:ext cx="2222500" cy="31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20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49D581-E5DC-405F-A4D2-69422BBD3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4147" y="1702052"/>
            <a:ext cx="14114035" cy="313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904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C3BC01F-757B-47B9-965A-8B8CA8FF9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2334" y="1056092"/>
            <a:ext cx="14080696" cy="490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183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25AE-0252-D35F-E8FF-83E6A62C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rgbClr val="DDDDDD"/>
                </a:solidFill>
                <a:latin typeface="Harry P" panose="00000400000000000000" pitchFamily="2" charset="0"/>
              </a:rPr>
              <a:t>Player Money Model (Real-Money Gameplay)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1EEF3-8489-A95D-D08F-B4BD330AD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solidFill>
                  <a:srgbClr val="DDDDDD"/>
                </a:solidFill>
                <a:latin typeface="Lucida Bright" panose="02040602050505020304" pitchFamily="18" charset="0"/>
              </a:rPr>
              <a:t>Wallet System</a:t>
            </a:r>
            <a:endParaRPr lang="en-US" sz="1800" dirty="0">
              <a:solidFill>
                <a:srgbClr val="DDDDDD"/>
              </a:solidFill>
              <a:latin typeface="Lucida Bright" panose="020406020505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DDDDDD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   </a:t>
            </a:r>
            <a:r>
              <a:rPr lang="en-US" sz="1200" dirty="0">
                <a:solidFill>
                  <a:srgbClr val="DDDDDD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Players add money to an in-game wallet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     Minimum entry amount per match (₹10 / ₹25 / ₹50 etc.)</a:t>
            </a:r>
          </a:p>
          <a:p>
            <a:pPr marL="0" indent="0">
              <a:buNone/>
            </a:pPr>
            <a:endParaRPr lang="en-US" sz="1200" dirty="0">
              <a:solidFill>
                <a:srgbClr val="DDDDDD"/>
              </a:solidFill>
              <a:latin typeface="Lucida Bright" panose="02040602050505020304" pitchFamily="18" charset="0"/>
            </a:endParaRPr>
          </a:p>
          <a:p>
            <a:r>
              <a:rPr lang="en-US" sz="1800" b="1" dirty="0">
                <a:solidFill>
                  <a:srgbClr val="DDDDDD"/>
                </a:solidFill>
                <a:latin typeface="Lucida Bright" panose="02040602050505020304" pitchFamily="18" charset="0"/>
              </a:rPr>
              <a:t>Paid Matches</a:t>
            </a:r>
            <a:endParaRPr lang="en-US" sz="1800" dirty="0">
              <a:solidFill>
                <a:srgbClr val="DDDDDD"/>
              </a:solidFill>
              <a:latin typeface="Lucida Bright" panose="020406020505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Lucida Bright" panose="02040602050505020304" pitchFamily="18" charset="0"/>
              </a:rPr>
              <a:t>    </a:t>
            </a:r>
            <a:r>
              <a:rPr lang="en-US" sz="1200" dirty="0">
                <a:solidFill>
                  <a:srgbClr val="DDDDDD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Players join cash games by paying an entry fee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    Winner(s) receive prize money from the pool</a:t>
            </a:r>
          </a:p>
          <a:p>
            <a:pPr marL="0" indent="0">
              <a:buNone/>
            </a:pPr>
            <a:endParaRPr lang="en-US" sz="1200" dirty="0">
              <a:solidFill>
                <a:srgbClr val="DDDDDD"/>
              </a:solidFill>
              <a:latin typeface="Lucida Bright" panose="02040602050505020304" pitchFamily="18" charset="0"/>
            </a:endParaRPr>
          </a:p>
          <a:p>
            <a:r>
              <a:rPr lang="en-US" sz="1800" b="1" dirty="0">
                <a:solidFill>
                  <a:srgbClr val="DDDDDD"/>
                </a:solidFill>
                <a:latin typeface="Lucida Bright" panose="02040602050505020304" pitchFamily="18" charset="0"/>
              </a:rPr>
              <a:t>Practice vs Cash Mode</a:t>
            </a:r>
            <a:endParaRPr lang="en-US" sz="1800" dirty="0">
              <a:solidFill>
                <a:srgbClr val="DDDDDD"/>
              </a:solidFill>
              <a:latin typeface="Lucida Bright" panose="020406020505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Lucida Bright" panose="02040602050505020304" pitchFamily="18" charset="0"/>
              </a:rPr>
              <a:t>    </a:t>
            </a:r>
            <a:r>
              <a:rPr lang="en-US" sz="1200" dirty="0">
                <a:solidFill>
                  <a:srgbClr val="DDDDDD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Free mode with virtual coins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Lucida Bright" panose="02040602050505020304" pitchFamily="18" charset="0"/>
                <a:cs typeface="Times New Roman" panose="02020603050405020304" pitchFamily="18" charset="0"/>
              </a:rPr>
              <a:t>    Cash mode uses real money for competitive play</a:t>
            </a:r>
          </a:p>
          <a:p>
            <a:endParaRPr lang="en-US" sz="1800" dirty="0">
              <a:solidFill>
                <a:schemeClr val="bg1">
                  <a:lumMod val="75000"/>
                </a:schemeClr>
              </a:solidFill>
              <a:latin typeface="Lucida Bright" panose="02040602050505020304" pitchFamily="18" charset="0"/>
            </a:endParaRPr>
          </a:p>
          <a:p>
            <a:r>
              <a:rPr lang="en-US" sz="2400" b="1" dirty="0">
                <a:solidFill>
                  <a:schemeClr val="bg1">
                    <a:lumMod val="75000"/>
                  </a:schemeClr>
                </a:solidFill>
                <a:latin typeface="Lucida Bright" panose="02040602050505020304" pitchFamily="18" charset="0"/>
              </a:rPr>
              <a:t>We believe in GO BIG OR GO HOME!!!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05B0E-E52E-569D-D7C4-EB367E41F1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98635" y="1387198"/>
            <a:ext cx="4392930" cy="4392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20613A-C0E9-43AF-8CCF-13F8AADBFD0A}"/>
              </a:ext>
            </a:extLst>
          </p:cNvPr>
          <p:cNvSpPr txBox="1"/>
          <p:nvPr/>
        </p:nvSpPr>
        <p:spPr>
          <a:xfrm>
            <a:off x="7634797" y="5604027"/>
            <a:ext cx="4392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DDDDDD"/>
                </a:solidFill>
                <a:effectLst/>
                <a:latin typeface="Lucida Bright" panose="02040602050505020304" pitchFamily="18" charset="0"/>
              </a:rPr>
              <a:t>Gambling was promised to you 3,000 years ago</a:t>
            </a:r>
          </a:p>
        </p:txBody>
      </p:sp>
    </p:spTree>
    <p:extLst>
      <p:ext uri="{BB962C8B-B14F-4D97-AF65-F5344CB8AC3E}">
        <p14:creationId xmlns:p14="http://schemas.microsoft.com/office/powerpoint/2010/main" val="39934887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 invX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6C0BDF-E5DD-56A5-0E90-EF4C71DF09A0}"/>
              </a:ext>
            </a:extLst>
          </p:cNvPr>
          <p:cNvSpPr txBox="1"/>
          <p:nvPr/>
        </p:nvSpPr>
        <p:spPr>
          <a:xfrm>
            <a:off x="4047201" y="2644170"/>
            <a:ext cx="40975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rgbClr val="DDDDDD"/>
                </a:solidFill>
                <a:latin typeface="Harry P" panose="00000400000000000000" pitchFamily="2" charset="0"/>
              </a:rPr>
              <a:t>Thank you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D89A10-8EB7-4D53-A220-E2305FD57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00" y="4196182"/>
            <a:ext cx="2340000" cy="23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DF5B0A-36E8-423C-8D32-F1B783F23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340000" cy="23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7127BB-7DD2-4C04-A397-2F0BAC601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000" y="360000"/>
            <a:ext cx="2340000" cy="234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71E547-D71C-4A26-A851-4613A086C6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2000" y="4256291"/>
            <a:ext cx="2340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3093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</TotalTime>
  <Words>211</Words>
  <Application>Microsoft Office PowerPoint</Application>
  <PresentationFormat>Widescreen</PresentationFormat>
  <Paragraphs>32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Harry P</vt:lpstr>
      <vt:lpstr>Lucida Bright</vt:lpstr>
      <vt:lpstr>Office Theme</vt:lpstr>
      <vt:lpstr>Hɸu$e ɸf Card$ </vt:lpstr>
      <vt:lpstr>Grɸup Member$</vt:lpstr>
      <vt:lpstr>Prɸblem $tatement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Player Money Model (Real-Money Gameplay)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Hɸu$e ɸf Card$</dc:title>
  <dc:creator>spectre</dc:creator>
  <cp:lastModifiedBy>spectre</cp:lastModifiedBy>
  <cp:revision>74</cp:revision>
  <dcterms:created xsi:type="dcterms:W3CDTF">2026-02-08T14:06:06Z</dcterms:created>
  <dcterms:modified xsi:type="dcterms:W3CDTF">2026-04-28T19:45:19Z</dcterms:modified>
</cp:coreProperties>
</file>